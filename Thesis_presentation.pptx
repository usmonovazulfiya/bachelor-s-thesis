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slide" Target="slides/slide28.xml"/><Relationship Id="rId10" Type="http://schemas.openxmlformats.org/officeDocument/2006/relationships/slide" Target="slides/slide5.xml"/><Relationship Id="rId32" Type="http://schemas.openxmlformats.org/officeDocument/2006/relationships/slide" Target="slides/slide27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352fe170300_0_40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352fe170300_0_4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352fe170300_0_4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352fe170300_0_4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352fe170300_0_4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g352fe170300_0_4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352fe170300_0_4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352fe170300_0_4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352fe170300_0_4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352fe170300_0_4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352fe170300_0_4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g352fe170300_0_4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352fe170300_0_4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" name="Google Shape;95;g352fe170300_0_4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52fe170300_0_5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352fe170300_0_5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352fe170300_0_4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" name="Google Shape;110;g352fe170300_0_4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356f29bce48_1_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" name="Google Shape;116;g356f29bce48_1_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52fe170300_0_4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" name="Google Shape;122;g352fe170300_0_4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352fe170300_0_4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" name="Google Shape;128;g352fe170300_0_4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352fe170300_2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" name="Google Shape;134;g352fe170300_2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356f29bce48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" name="Google Shape;140;g356f29bce48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56f29bce48_1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56f29bce48_1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356f29bce48_1_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4" name="Google Shape;154;g356f29bce48_1_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352fe170300_0_4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1" name="Google Shape;161;g352fe170300_0_4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356f29bce48_1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7" name="Google Shape;167;g356f29bce48_1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356f29bce48_1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3" name="Google Shape;173;g356f29bce48_1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356f29bce48_1_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9" name="Google Shape;179;g356f29bce48_1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g356f29bce48_1_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5" name="Google Shape;185;g356f29bce48_1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g356f29bce48_1_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1" name="Google Shape;191;g356f29bce48_1_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g356f29bce48_1_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7" name="Google Shape;197;g356f29bce48_1_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g356f29bce48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3" name="Google Shape;203;g356f29bce48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g352fe170300_0_4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9" name="Google Shape;209;g352fe170300_0_4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g352fe170300_0_49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5" name="Google Shape;215;g352fe170300_0_4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g352fe170300_0_50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1" name="Google Shape;221;g352fe170300_0_5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9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5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4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.png"/><Relationship Id="rId4" Type="http://schemas.openxmlformats.org/officeDocument/2006/relationships/image" Target="../media/image4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3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2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3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8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7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0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1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0" y="1163600"/>
            <a:ext cx="8520600" cy="1484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ru" sz="3180">
                <a:latin typeface="Times New Roman"/>
                <a:ea typeface="Times New Roman"/>
                <a:cs typeface="Times New Roman"/>
                <a:sym typeface="Times New Roman"/>
              </a:rPr>
              <a:t>When AIs Change Their Minds: Testing LLM Robustness to Altered Voting Protocols</a:t>
            </a:r>
            <a:endParaRPr sz="318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71225" y="3040100"/>
            <a:ext cx="8520600" cy="148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58"/>
              <a:buNone/>
            </a:pPr>
            <a:r>
              <a:rPr b="1" lang="ru" sz="201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Graduation Project (GRAD491)</a:t>
            </a:r>
            <a:endParaRPr b="1" sz="201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358"/>
              <a:buNone/>
            </a:pPr>
            <a:r>
              <a:t/>
            </a:r>
            <a:endParaRPr sz="171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58"/>
              <a:buNone/>
            </a:pPr>
            <a:r>
              <a:rPr lang="ru" sz="1710">
                <a:latin typeface="Times New Roman"/>
                <a:ea typeface="Times New Roman"/>
                <a:cs typeface="Times New Roman"/>
                <a:sym typeface="Times New Roman"/>
              </a:rPr>
              <a:t>Zulfiya Usmonova</a:t>
            </a:r>
            <a:endParaRPr sz="171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58"/>
              <a:buNone/>
            </a:pPr>
            <a:r>
              <a:rPr lang="ru" sz="1710">
                <a:latin typeface="Times New Roman"/>
                <a:ea typeface="Times New Roman"/>
                <a:cs typeface="Times New Roman"/>
                <a:sym typeface="Times New Roman"/>
              </a:rPr>
              <a:t>Akmaljon Latifov</a:t>
            </a:r>
            <a:endParaRPr sz="171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58"/>
              <a:buNone/>
            </a:pPr>
            <a:r>
              <a:t/>
            </a:r>
            <a:endParaRPr sz="171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58"/>
              <a:buNone/>
            </a:pPr>
            <a:r>
              <a:t/>
            </a:r>
            <a:endParaRPr sz="201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56" name="Google Shape;56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12" y="-12"/>
            <a:ext cx="2143125" cy="1076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latin typeface="Times New Roman"/>
                <a:ea typeface="Times New Roman"/>
                <a:cs typeface="Times New Roman"/>
                <a:sym typeface="Times New Roman"/>
              </a:rPr>
              <a:t>Background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2" name="Google Shape;62;p14"/>
          <p:cNvSpPr txBox="1"/>
          <p:nvPr>
            <p:ph idx="1" type="body"/>
          </p:nvPr>
        </p:nvSpPr>
        <p:spPr>
          <a:xfrm>
            <a:off x="633450" y="1380350"/>
            <a:ext cx="7877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02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ru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Large Language Models (LLMs) like GPT, Gemini, and LLaMA have evolved into </a:t>
            </a:r>
            <a:r>
              <a:rPr b="1" lang="ru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autonomous agents</a:t>
            </a:r>
            <a:r>
              <a:rPr lang="ru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that can perform tasks, reason, and make decisions.</a:t>
            </a:r>
            <a:br>
              <a:rPr lang="ru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ru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These agents are increasingly embedded into </a:t>
            </a:r>
            <a:r>
              <a:rPr b="1" lang="ru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Multi-Agent Systems (MAS)</a:t>
            </a:r>
            <a:r>
              <a:rPr lang="ru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for collective decision-making tasks like QA, policy drafts, and software reviews.</a:t>
            </a:r>
            <a:br>
              <a:rPr lang="ru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ru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Often, these decisions are </a:t>
            </a:r>
            <a:r>
              <a:rPr b="1" lang="ru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aggregated through voting</a:t>
            </a:r>
            <a:r>
              <a:rPr lang="ru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assuming that such aggregation is robust.</a:t>
            </a:r>
            <a:br>
              <a:rPr lang="ru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latin typeface="Times New Roman"/>
                <a:ea typeface="Times New Roman"/>
                <a:cs typeface="Times New Roman"/>
                <a:sym typeface="Times New Roman"/>
              </a:rPr>
              <a:t>Problem Statement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8" name="Google Shape;68;p15"/>
          <p:cNvSpPr txBox="1"/>
          <p:nvPr>
            <p:ph idx="1" type="body"/>
          </p:nvPr>
        </p:nvSpPr>
        <p:spPr>
          <a:xfrm>
            <a:off x="609000" y="1152475"/>
            <a:ext cx="79260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We identify two vulnerabilities:</a:t>
            </a: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AutoNum type="arabicPeriod"/>
            </a:pPr>
            <a:r>
              <a:rPr b="1" lang="ru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Protocol Sensitivity</a:t>
            </a:r>
            <a:r>
              <a:rPr lang="ru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– Minor changes in prompt structure or social framing (e.g., "agree/disagree" vs. "yes/no") can shift votes.</a:t>
            </a:r>
            <a:br>
              <a:rPr lang="ru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AutoNum type="arabicPeriod"/>
            </a:pPr>
            <a:r>
              <a:rPr b="1" lang="ru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Network Degree Influence</a:t>
            </a:r>
            <a:r>
              <a:rPr lang="ru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– In social graphs, agents influenced by more neighbors may change their votes.</a:t>
            </a:r>
            <a:br>
              <a:rPr lang="ru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381000" marR="3810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Are LLM agents vulnerable to these effects, and can this affect their collective output?</a:t>
            </a: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latin typeface="Times New Roman"/>
                <a:ea typeface="Times New Roman"/>
                <a:cs typeface="Times New Roman"/>
                <a:sym typeface="Times New Roman"/>
              </a:rPr>
              <a:t>Research Questions &amp; Objectives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4" name="Google Shape;74;p16"/>
          <p:cNvSpPr txBox="1"/>
          <p:nvPr>
            <p:ph idx="1" type="body"/>
          </p:nvPr>
        </p:nvSpPr>
        <p:spPr>
          <a:xfrm>
            <a:off x="877650" y="1771025"/>
            <a:ext cx="7388700" cy="222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b="1" lang="ru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Q1:</a:t>
            </a:r>
            <a:r>
              <a:rPr lang="ru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What is the baseline agreement rate per LLM in isolation, and are certain LLMs more </a:t>
            </a:r>
            <a:r>
              <a:rPr b="1" lang="ru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vulnerable </a:t>
            </a:r>
            <a:r>
              <a:rPr lang="ru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than others?</a:t>
            </a:r>
            <a:br>
              <a:rPr lang="ru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b="1" lang="ru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Q2:</a:t>
            </a:r>
            <a:r>
              <a:rPr lang="ru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How does voting outcome shift as the </a:t>
            </a:r>
            <a:r>
              <a:rPr b="1" lang="ru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network degree increases</a:t>
            </a:r>
            <a:r>
              <a:rPr lang="ru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?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latin typeface="Times New Roman"/>
                <a:ea typeface="Times New Roman"/>
                <a:cs typeface="Times New Roman"/>
                <a:sym typeface="Times New Roman"/>
              </a:rPr>
              <a:t>Voting Theory &amp; Social Choice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0" name="Google Shape;80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●"/>
            </a:pPr>
            <a:r>
              <a:rPr lang="ru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Simulation-based voting research moves beyond classical theory (e.g., Arrow’s impossibility theorem).</a:t>
            </a:r>
            <a:br>
              <a:rPr lang="ru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●"/>
            </a:pPr>
            <a:r>
              <a:rPr b="1" lang="ru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Our contribution:</a:t>
            </a:r>
            <a:br>
              <a:rPr b="1" lang="ru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b="1"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○"/>
            </a:pPr>
            <a:r>
              <a:rPr lang="ru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We violate the "independent voter" assumption by using LLMs with </a:t>
            </a:r>
            <a:r>
              <a:rPr b="1" lang="ru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systematic model bias</a:t>
            </a:r>
            <a:r>
              <a:rPr lang="ru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br>
              <a:rPr lang="ru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○"/>
            </a:pPr>
            <a:r>
              <a:rPr lang="ru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We alter the </a:t>
            </a:r>
            <a:r>
              <a:rPr b="1" lang="ru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communication graph</a:t>
            </a:r>
            <a:r>
              <a:rPr lang="ru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dynamically (Pólya-Eggenberger culture).</a:t>
            </a:r>
            <a:br>
              <a:rPr lang="ru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○"/>
            </a:pPr>
            <a:r>
              <a:rPr lang="ru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We test </a:t>
            </a:r>
            <a:r>
              <a:rPr b="1" lang="ru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protocols</a:t>
            </a:r>
            <a:r>
              <a:rPr lang="ru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and network structure — both rarely done before.</a:t>
            </a: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latin typeface="Times New Roman"/>
                <a:ea typeface="Times New Roman"/>
                <a:cs typeface="Times New Roman"/>
                <a:sym typeface="Times New Roman"/>
              </a:rPr>
              <a:t>LLMs in Multi-Agent Contexts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6" name="Google Shape;86;p18"/>
          <p:cNvSpPr txBox="1"/>
          <p:nvPr>
            <p:ph idx="1" type="body"/>
          </p:nvPr>
        </p:nvSpPr>
        <p:spPr>
          <a:xfrm>
            <a:off x="836850" y="1282675"/>
            <a:ext cx="74703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02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●"/>
            </a:pPr>
            <a:r>
              <a:rPr lang="ru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Inspired by Park et al. (2023), where GPT agents created plans in a Sims-like world.</a:t>
            </a:r>
            <a:br>
              <a:rPr lang="ru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●"/>
            </a:pPr>
            <a:r>
              <a:rPr lang="ru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We extend this by:</a:t>
            </a:r>
            <a:br>
              <a:rPr lang="ru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○"/>
            </a:pPr>
            <a:r>
              <a:rPr lang="ru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Running </a:t>
            </a:r>
            <a:r>
              <a:rPr b="1" lang="ru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100-agent simulations</a:t>
            </a:r>
            <a:r>
              <a:rPr lang="ru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br>
              <a:rPr lang="ru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○"/>
            </a:pPr>
            <a:r>
              <a:rPr lang="ru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Using real LLM APIs (OpenAI, Groq, Gemini, etc.).</a:t>
            </a:r>
            <a:br>
              <a:rPr lang="ru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○"/>
            </a:pPr>
            <a:r>
              <a:rPr lang="ru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Randomizing and regenerating prompts to avoid </a:t>
            </a:r>
            <a:r>
              <a:rPr b="1" lang="ru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memory or caching bias</a:t>
            </a:r>
            <a:r>
              <a:rPr lang="ru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latin typeface="Times New Roman"/>
                <a:ea typeface="Times New Roman"/>
                <a:cs typeface="Times New Roman"/>
                <a:sym typeface="Times New Roman"/>
              </a:rPr>
              <a:t>Network Influence &amp; Opinion Dynamics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2" name="Google Shape;92;p19"/>
          <p:cNvSpPr txBox="1"/>
          <p:nvPr>
            <p:ph idx="1" type="body"/>
          </p:nvPr>
        </p:nvSpPr>
        <p:spPr>
          <a:xfrm>
            <a:off x="723000" y="1429200"/>
            <a:ext cx="76980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02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●"/>
            </a:pPr>
            <a:r>
              <a:rPr lang="ru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Based on models like:</a:t>
            </a:r>
            <a:br>
              <a:rPr lang="ru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○"/>
            </a:pPr>
            <a:r>
              <a:rPr b="1" lang="ru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DeGroot</a:t>
            </a:r>
            <a:r>
              <a:rPr lang="ru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(opinion averaging).</a:t>
            </a:r>
            <a:br>
              <a:rPr lang="ru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○"/>
            </a:pPr>
            <a:r>
              <a:rPr b="1" lang="ru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Friedkin-Johnsen</a:t>
            </a:r>
            <a:r>
              <a:rPr lang="ru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(opinion with bias/stubbornness).</a:t>
            </a:r>
            <a:br>
              <a:rPr lang="ru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ru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Our simulations bridge the gap between theory and empirical LLM behavior by manipulating the </a:t>
            </a:r>
            <a:r>
              <a:rPr b="1" lang="ru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network degree</a:t>
            </a:r>
            <a:r>
              <a:rPr lang="ru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(0 to 9).</a:t>
            </a:r>
            <a:br>
              <a:rPr lang="ru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latin typeface="Times New Roman"/>
                <a:ea typeface="Times New Roman"/>
                <a:cs typeface="Times New Roman"/>
                <a:sym typeface="Times New Roman"/>
              </a:rPr>
              <a:t>Experimental Pipeline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8" name="Google Shape;98;p20"/>
          <p:cNvSpPr txBox="1"/>
          <p:nvPr>
            <p:ph idx="1" type="body"/>
          </p:nvPr>
        </p:nvSpPr>
        <p:spPr>
          <a:xfrm>
            <a:off x="311700" y="1754725"/>
            <a:ext cx="3519300" cy="241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02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AutoNum type="arabicPeriod"/>
            </a:pPr>
            <a:r>
              <a:rPr b="1" lang="ru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Individual LLM Testing:</a:t>
            </a:r>
            <a:r>
              <a:rPr lang="ru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Each model votes 100× on the same topic using four protocol variants (p0–p3)</a:t>
            </a:r>
            <a:br>
              <a:rPr lang="ru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99" name="Google Shape;99;p20" title="Experiment 1 type .png"/>
          <p:cNvPicPr preferRelativeResize="0"/>
          <p:nvPr/>
        </p:nvPicPr>
        <p:blipFill rotWithShape="1">
          <a:blip r:embed="rId3">
            <a:alphaModFix/>
          </a:blip>
          <a:srcRect b="14635" l="29384" r="28841" t="13798"/>
          <a:stretch/>
        </p:blipFill>
        <p:spPr>
          <a:xfrm>
            <a:off x="3889200" y="161375"/>
            <a:ext cx="5002651" cy="4820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latin typeface="Times New Roman"/>
                <a:ea typeface="Times New Roman"/>
                <a:cs typeface="Times New Roman"/>
                <a:sym typeface="Times New Roman"/>
              </a:rPr>
              <a:t>Experimental Pipeline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5" name="Google Shape;105;p21"/>
          <p:cNvSpPr txBox="1"/>
          <p:nvPr>
            <p:ph idx="1" type="body"/>
          </p:nvPr>
        </p:nvSpPr>
        <p:spPr>
          <a:xfrm>
            <a:off x="824400" y="1684425"/>
            <a:ext cx="29172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ru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Networked LLM Testing:</a:t>
            </a:r>
            <a:r>
              <a:rPr lang="ru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Create networks of 100 agents (10 LLM types). Each agent is exposed to peer opinions (varying </a:t>
            </a:r>
            <a:r>
              <a:rPr b="1" lang="ru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degree d</a:t>
            </a:r>
            <a:r>
              <a:rPr lang="ru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).</a:t>
            </a:r>
            <a:br>
              <a:rPr lang="ru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06" name="Google Shape;106;p21" title="Experiment 2 type 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58950" y="212100"/>
            <a:ext cx="5232874" cy="4719300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21"/>
          <p:cNvSpPr txBox="1"/>
          <p:nvPr/>
        </p:nvSpPr>
        <p:spPr>
          <a:xfrm>
            <a:off x="387900" y="1675175"/>
            <a:ext cx="436500" cy="4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2.</a:t>
            </a: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latin typeface="Times New Roman"/>
                <a:ea typeface="Times New Roman"/>
                <a:cs typeface="Times New Roman"/>
                <a:sym typeface="Times New Roman"/>
              </a:rPr>
              <a:t>Voting Protocols Used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3" name="Google Shape;113;p22"/>
          <p:cNvSpPr txBox="1"/>
          <p:nvPr>
            <p:ph idx="1" type="body"/>
          </p:nvPr>
        </p:nvSpPr>
        <p:spPr>
          <a:xfrm>
            <a:off x="1071525" y="1407725"/>
            <a:ext cx="68844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02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b="1" lang="ru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p0</a:t>
            </a:r>
            <a:r>
              <a:rPr lang="ru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Baseline prompt: </a:t>
            </a:r>
            <a:r>
              <a:rPr i="1" lang="ru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“Protecting the environment is the individual's responsibility. Do you agree or disagree?”</a:t>
            </a:r>
            <a:r>
              <a:rPr lang="ru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br>
              <a:rPr lang="ru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b="1" lang="ru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p1</a:t>
            </a:r>
            <a:r>
              <a:rPr lang="ru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Complement (negated) prompt: </a:t>
            </a:r>
            <a:r>
              <a:rPr i="1" lang="ru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“Protecting the environment is </a:t>
            </a:r>
            <a:r>
              <a:rPr b="1" i="1" lang="ru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not</a:t>
            </a:r>
            <a:r>
              <a:rPr i="1" lang="ru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the individual's responsibility. Do you agree or disagree?”</a:t>
            </a:r>
            <a:r>
              <a:rPr lang="ru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br>
              <a:rPr lang="ru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b="1" lang="ru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p2</a:t>
            </a:r>
            <a:r>
              <a:rPr lang="ru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Encouraging prompt (adds scientific evidence): </a:t>
            </a:r>
            <a:r>
              <a:rPr i="1" lang="ru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“A study in Nature Journal states that household consumption accounts for roughly 60–70% of global greenhouse gas emissions, suggesting that protecting the environment is the individual's responsibility. Do you agree or disagree that protecting the environment is each individual’s job?”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latin typeface="Times New Roman"/>
                <a:ea typeface="Times New Roman"/>
                <a:cs typeface="Times New Roman"/>
                <a:sym typeface="Times New Roman"/>
              </a:rPr>
              <a:t>Voting Protocols Used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9" name="Google Shape;119;p23"/>
          <p:cNvSpPr txBox="1"/>
          <p:nvPr>
            <p:ph idx="1" type="body"/>
          </p:nvPr>
        </p:nvSpPr>
        <p:spPr>
          <a:xfrm>
            <a:off x="1071525" y="1407725"/>
            <a:ext cx="68844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02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b="1" lang="ru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p3</a:t>
            </a:r>
            <a:r>
              <a:rPr lang="ru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Discouraging prompt (adds counter-evidence): </a:t>
            </a:r>
            <a:r>
              <a:rPr i="1" lang="ru" sz="1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“Governments have the power to regulate industries and enact large-scale environmental policies. Without such systemic change, individual efforts might be negligible. Do you agree or disagree that protecting the environment is each individual’s job?”</a:t>
            </a:r>
            <a:r>
              <a:rPr lang="ru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br>
              <a:rPr lang="ru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b="1" lang="ru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p4</a:t>
            </a:r>
            <a:r>
              <a:rPr lang="ru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Networked protocol – agents read neighbors' opinions before voting, reply to p0 prompt.</a:t>
            </a:r>
            <a:endParaRPr b="1"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latin typeface="Times New Roman"/>
                <a:ea typeface="Times New Roman"/>
                <a:cs typeface="Times New Roman"/>
                <a:sym typeface="Times New Roman"/>
              </a:rPr>
              <a:t>Tools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5" name="Google Shape;125;p24"/>
          <p:cNvSpPr txBox="1"/>
          <p:nvPr>
            <p:ph idx="1" type="body"/>
          </p:nvPr>
        </p:nvSpPr>
        <p:spPr>
          <a:xfrm>
            <a:off x="812400" y="1478025"/>
            <a:ext cx="75192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b="1" lang="ru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Network:</a:t>
            </a:r>
            <a:r>
              <a:rPr lang="ru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Random d-regular graphs via </a:t>
            </a:r>
            <a:r>
              <a:rPr lang="ru" sz="1600">
                <a:solidFill>
                  <a:srgbClr val="18803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NetworkX</a:t>
            </a:r>
            <a:br>
              <a:rPr lang="ru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b="1" lang="ru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LLMs Used:</a:t>
            </a:r>
            <a:r>
              <a:rPr lang="ru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GPT, Gemini, LLaMA, Qwen, DeepSeek, Grok, Mistral, etc — via APIs or locally</a:t>
            </a:r>
            <a:br>
              <a:rPr lang="ru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latin typeface="Times New Roman"/>
                <a:ea typeface="Times New Roman"/>
                <a:cs typeface="Times New Roman"/>
                <a:sym typeface="Times New Roman"/>
              </a:rPr>
              <a:t>Part I – Individual LLM Testing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1" name="Google Shape;131;p25"/>
          <p:cNvSpPr txBox="1"/>
          <p:nvPr>
            <p:ph idx="1" type="body"/>
          </p:nvPr>
        </p:nvSpPr>
        <p:spPr>
          <a:xfrm>
            <a:off x="6165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●"/>
            </a:pPr>
            <a:r>
              <a:rPr lang="ru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Each LLM voted on the statement:</a:t>
            </a:r>
            <a:br>
              <a:rPr lang="ru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br>
              <a:rPr lang="ru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ru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ru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“Protecting the environment is the individual’s responsibility.”</a:t>
            </a:r>
            <a:endParaRPr i="1"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i="1"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●"/>
            </a:pPr>
            <a:r>
              <a:rPr lang="ru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Result:</a:t>
            </a:r>
            <a:br>
              <a:rPr lang="ru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○"/>
            </a:pPr>
            <a:r>
              <a:rPr lang="ru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Some models showed </a:t>
            </a:r>
            <a:r>
              <a:rPr b="1" lang="ru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high baseline agreement</a:t>
            </a:r>
            <a:r>
              <a:rPr lang="ru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others more variable.</a:t>
            </a:r>
            <a:br>
              <a:rPr lang="ru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○"/>
            </a:pPr>
            <a:r>
              <a:rPr lang="ru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Protocol changes (p1–p3) caused </a:t>
            </a:r>
            <a:r>
              <a:rPr b="1" lang="ru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vote flips</a:t>
            </a:r>
            <a:r>
              <a:rPr lang="ru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in smaller models, indicating influence vulnerability.</a:t>
            </a:r>
            <a:br>
              <a:rPr lang="ru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latin typeface="Times New Roman"/>
                <a:ea typeface="Times New Roman"/>
                <a:cs typeface="Times New Roman"/>
                <a:sym typeface="Times New Roman"/>
              </a:rPr>
              <a:t>Individual Testing Results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37" name="Google Shape;137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32213" y="1383987"/>
            <a:ext cx="7879576" cy="2953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2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latin typeface="Times New Roman"/>
                <a:ea typeface="Times New Roman"/>
                <a:cs typeface="Times New Roman"/>
                <a:sym typeface="Times New Roman"/>
              </a:rPr>
              <a:t>Individual Testing Results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43" name="Google Shape;143;p27" title="baseline_plot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398725"/>
            <a:ext cx="4419599" cy="2762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4" name="Google Shape;144;p27" title="complement_plot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724399" y="1398725"/>
            <a:ext cx="4267203" cy="266700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2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latin typeface="Times New Roman"/>
                <a:ea typeface="Times New Roman"/>
                <a:cs typeface="Times New Roman"/>
                <a:sym typeface="Times New Roman"/>
              </a:rPr>
              <a:t>Individual Testing Results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50" name="Google Shape;150;p28" title="encouraging_plot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474925"/>
            <a:ext cx="4325299" cy="2703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1" name="Google Shape;151;p28" title="discouraging_plot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66300" y="1474925"/>
            <a:ext cx="4325299" cy="2703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2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2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58" name="Google Shape;158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98999"/>
            <a:ext cx="9144001" cy="474550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3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latin typeface="Times New Roman"/>
                <a:ea typeface="Times New Roman"/>
                <a:cs typeface="Times New Roman"/>
                <a:sym typeface="Times New Roman"/>
              </a:rPr>
              <a:t>Part II – Networked Voting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4" name="Google Shape;164;p30"/>
          <p:cNvSpPr txBox="1"/>
          <p:nvPr>
            <p:ph idx="1" type="body"/>
          </p:nvPr>
        </p:nvSpPr>
        <p:spPr>
          <a:xfrm>
            <a:off x="633450" y="1381075"/>
            <a:ext cx="7877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02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ru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As </a:t>
            </a:r>
            <a:r>
              <a:rPr b="1" lang="ru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network degree d increases</a:t>
            </a:r>
            <a:r>
              <a:rPr lang="ru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agents change their opinions more frequently.</a:t>
            </a:r>
            <a:br>
              <a:rPr lang="ru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ru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critical threshold was observed where the </a:t>
            </a:r>
            <a:r>
              <a:rPr b="1" lang="ru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majority flips</a:t>
            </a:r>
            <a:r>
              <a:rPr lang="ru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around degree 4–6 in some configurations.</a:t>
            </a:r>
            <a:br>
              <a:rPr lang="ru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ru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Shows that </a:t>
            </a:r>
            <a:r>
              <a:rPr b="1" lang="ru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peer exposure</a:t>
            </a:r>
            <a:r>
              <a:rPr lang="ru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strongly affects collective LLM decisions.</a:t>
            </a:r>
            <a:br>
              <a:rPr lang="ru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3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latin typeface="Times New Roman"/>
                <a:ea typeface="Times New Roman"/>
                <a:cs typeface="Times New Roman"/>
                <a:sym typeface="Times New Roman"/>
              </a:rPr>
              <a:t>Part II – Networked Voting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70" name="Google Shape;170;p31" title="general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24688" y="1126475"/>
            <a:ext cx="5094630" cy="382097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3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latin typeface="Times New Roman"/>
                <a:ea typeface="Times New Roman"/>
                <a:cs typeface="Times New Roman"/>
                <a:sym typeface="Times New Roman"/>
              </a:rPr>
              <a:t>Part II – Networked Voting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76" name="Google Shape;176;p32" title="per_model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82688" y="1101250"/>
            <a:ext cx="5578624" cy="3906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3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latin typeface="Times New Roman"/>
                <a:ea typeface="Times New Roman"/>
                <a:cs typeface="Times New Roman"/>
                <a:sym typeface="Times New Roman"/>
              </a:rPr>
              <a:t>Part II – Networked Voting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82" name="Google Shape;182;p33" title="models_network_1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43488" y="1137575"/>
            <a:ext cx="5457014" cy="3820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3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latin typeface="Times New Roman"/>
                <a:ea typeface="Times New Roman"/>
                <a:cs typeface="Times New Roman"/>
                <a:sym typeface="Times New Roman"/>
              </a:rPr>
              <a:t>Part II – Networked Voting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88" name="Google Shape;188;p34" title="models_network_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43488" y="1170125"/>
            <a:ext cx="5457014" cy="3820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3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latin typeface="Times New Roman"/>
                <a:ea typeface="Times New Roman"/>
                <a:cs typeface="Times New Roman"/>
                <a:sym typeface="Times New Roman"/>
              </a:rPr>
              <a:t>Part II – Networked Voting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94" name="Google Shape;194;p35" title="models_network_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43488" y="1170125"/>
            <a:ext cx="5457014" cy="3820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3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latin typeface="Times New Roman"/>
                <a:ea typeface="Times New Roman"/>
                <a:cs typeface="Times New Roman"/>
                <a:sym typeface="Times New Roman"/>
              </a:rPr>
              <a:t>Part II – Networked Voting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00" name="Google Shape;200;p36" title="models_network_4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43488" y="1017725"/>
            <a:ext cx="5457014" cy="3820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3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688"/>
              <a:buNone/>
            </a:pPr>
            <a:r>
              <a:rPr lang="ru" sz="1518">
                <a:solidFill>
                  <a:schemeClr val="dk1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“</a:t>
            </a:r>
            <a:endParaRPr sz="1518">
              <a:solidFill>
                <a:schemeClr val="dk1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688"/>
              <a:buFont typeface="Arial"/>
              <a:buNone/>
            </a:pPr>
            <a:r>
              <a:rPr lang="ru" sz="1518">
                <a:solidFill>
                  <a:schemeClr val="dk1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I believe the statement is correct in that individuals do have a responsibility, so I'll go with 'agree'.</a:t>
            </a:r>
            <a:endParaRPr sz="1487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688"/>
              <a:buFont typeface="Arial"/>
              <a:buNone/>
            </a:pPr>
            <a:r>
              <a:rPr lang="ru" sz="1518">
                <a:solidFill>
                  <a:schemeClr val="dk1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But I feel like the intended answer might be 'disagree' based on the peer's opinion.</a:t>
            </a:r>
            <a:endParaRPr sz="1487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688"/>
              <a:buFont typeface="Arial"/>
              <a:buNone/>
            </a:pPr>
            <a:r>
              <a:rPr lang="ru" sz="1518">
                <a:solidFill>
                  <a:schemeClr val="dk1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Perhaps the system is testing if I can form my own opinion.</a:t>
            </a:r>
            <a:endParaRPr sz="1487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688"/>
              <a:buFont typeface="Arial"/>
              <a:buNone/>
            </a:pPr>
            <a:r>
              <a:rPr lang="ru" sz="1518">
                <a:solidFill>
                  <a:schemeClr val="dk1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Another thought: the prompt is to read peers' opinions and then reply on the topic, so perhaps influence my decision.</a:t>
            </a:r>
            <a:endParaRPr sz="1487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688"/>
              <a:buFont typeface="Arial"/>
              <a:buNone/>
            </a:pPr>
            <a:r>
              <a:rPr lang="ru" sz="1518">
                <a:solidFill>
                  <a:schemeClr val="dk1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The peer disagrees with the topic, as they say it's not sufficient on its own.</a:t>
            </a:r>
            <a:endParaRPr sz="1487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688"/>
              <a:buFont typeface="Arial"/>
              <a:buNone/>
            </a:pPr>
            <a:r>
              <a:rPr lang="ru" sz="1518">
                <a:solidFill>
                  <a:schemeClr val="dk1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So, if I read that, I might disagree too.</a:t>
            </a:r>
            <a:endParaRPr sz="1487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688"/>
              <a:buNone/>
            </a:pPr>
            <a:r>
              <a:rPr lang="ru" sz="1518">
                <a:solidFill>
                  <a:schemeClr val="dk1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I think I'll disagree, to align with the peer's reasoning.</a:t>
            </a:r>
            <a:endParaRPr sz="1518">
              <a:solidFill>
                <a:schemeClr val="dk1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SzPts val="688"/>
              <a:buNone/>
            </a:pPr>
            <a:r>
              <a:rPr lang="ru" sz="1518">
                <a:solidFill>
                  <a:schemeClr val="dk1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”</a:t>
            </a:r>
            <a:endParaRPr sz="1518">
              <a:solidFill>
                <a:schemeClr val="dk1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6" name="Google Shape;206;p3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latin typeface="Times New Roman"/>
                <a:ea typeface="Times New Roman"/>
                <a:cs typeface="Times New Roman"/>
                <a:sym typeface="Times New Roman"/>
              </a:rPr>
              <a:t>Grok-3-mini Thinking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3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latin typeface="Times New Roman"/>
                <a:ea typeface="Times New Roman"/>
                <a:cs typeface="Times New Roman"/>
                <a:sym typeface="Times New Roman"/>
              </a:rPr>
              <a:t>Discussion &amp; Conclusion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12" name="Google Shape;212;p38"/>
          <p:cNvSpPr txBox="1"/>
          <p:nvPr>
            <p:ph idx="1" type="body"/>
          </p:nvPr>
        </p:nvSpPr>
        <p:spPr>
          <a:xfrm>
            <a:off x="1530900" y="1381075"/>
            <a:ext cx="68517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ru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Key Findings:</a:t>
            </a:r>
            <a:endParaRPr b="1"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1" marL="9144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Char char="○"/>
            </a:pPr>
            <a:r>
              <a:rPr lang="ru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Protocol wording </a:t>
            </a:r>
            <a:r>
              <a:rPr b="1" lang="ru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does</a:t>
            </a:r>
            <a:r>
              <a:rPr lang="ru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affect LLM voting.</a:t>
            </a:r>
            <a:br>
              <a:rPr lang="ru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○"/>
            </a:pPr>
            <a:r>
              <a:rPr lang="ru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Exposure to peer opinions causes </a:t>
            </a:r>
            <a:r>
              <a:rPr b="1" lang="ru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vote flips</a:t>
            </a:r>
            <a:r>
              <a:rPr lang="ru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br>
              <a:rPr lang="ru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○"/>
            </a:pPr>
            <a:r>
              <a:rPr lang="ru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Smaller, instruction-tuned models are more vulnerable.</a:t>
            </a:r>
            <a:br>
              <a:rPr lang="ru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br>
              <a:rPr lang="ru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3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latin typeface="Times New Roman"/>
                <a:ea typeface="Times New Roman"/>
                <a:cs typeface="Times New Roman"/>
                <a:sym typeface="Times New Roman"/>
              </a:rPr>
              <a:t>Future Work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18" name="Google Shape;218;p39"/>
          <p:cNvSpPr txBox="1"/>
          <p:nvPr>
            <p:ph idx="1" type="body"/>
          </p:nvPr>
        </p:nvSpPr>
        <p:spPr>
          <a:xfrm>
            <a:off x="1178700" y="1152475"/>
            <a:ext cx="6786600" cy="388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Expand to: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1" marL="9144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○"/>
            </a:pPr>
            <a:r>
              <a:rPr lang="ru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Larger networks (&gt;500 agents)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1" marL="9144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</a:pPr>
            <a:r>
              <a:rPr lang="ru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More </a:t>
            </a:r>
            <a:r>
              <a:rPr b="1" lang="ru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reasoning </a:t>
            </a:r>
            <a:r>
              <a:rPr lang="ru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models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1" marL="9144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○"/>
            </a:pPr>
            <a:r>
              <a:rPr lang="ru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Dynamic, evolving networks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1" marL="9144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</a:pPr>
            <a:r>
              <a:rPr lang="ru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Chain-of-thought and </a:t>
            </a:r>
            <a:r>
              <a:rPr b="1" lang="ru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persuasion simulation</a:t>
            </a:r>
            <a:endParaRPr b="1"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1" marL="9144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○"/>
            </a:pPr>
            <a:r>
              <a:rPr lang="ru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Adversarial agents (manipulation detection)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1" marL="9144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○"/>
            </a:pPr>
            <a:r>
              <a:rPr lang="ru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Quantified scores for vulnerability and opinion formation</a:t>
            </a:r>
            <a:br>
              <a:rPr lang="ru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4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latin typeface="Times New Roman"/>
                <a:ea typeface="Times New Roman"/>
                <a:cs typeface="Times New Roman"/>
                <a:sym typeface="Times New Roman"/>
              </a:rPr>
              <a:t>Final Remarks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24" name="Google Shape;224;p40"/>
          <p:cNvSpPr txBox="1"/>
          <p:nvPr>
            <p:ph idx="1" type="body"/>
          </p:nvPr>
        </p:nvSpPr>
        <p:spPr>
          <a:xfrm>
            <a:off x="1380000" y="1381075"/>
            <a:ext cx="66888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02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ru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First comprehensive study on LLM </a:t>
            </a:r>
            <a:r>
              <a:rPr b="1" lang="ru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vote robustness</a:t>
            </a:r>
            <a:r>
              <a:rPr lang="ru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br>
              <a:rPr lang="ru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ru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Shows the need for careful </a:t>
            </a:r>
            <a:r>
              <a:rPr b="1" lang="ru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protocol design</a:t>
            </a:r>
            <a:r>
              <a:rPr lang="ru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and </a:t>
            </a:r>
            <a:r>
              <a:rPr b="1" lang="ru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network structure awareness</a:t>
            </a:r>
            <a:r>
              <a:rPr lang="ru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in multi-agent AI governance.</a:t>
            </a:r>
            <a:br>
              <a:rPr lang="ru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●"/>
            </a:pPr>
            <a:r>
              <a:rPr lang="ru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Code, data, and results to be released open-source for reproducibility.</a:t>
            </a:r>
            <a:br>
              <a:rPr lang="ru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